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F91826-C05B-413A-A8EA-DE5EEEFE52D1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6AE7FDD-49F6-451A-96F6-21CA4E84903D}">
      <dgm:prSet phldrT="[Text]"/>
      <dgm:spPr/>
      <dgm:t>
        <a:bodyPr/>
        <a:lstStyle/>
        <a:p>
          <a:r>
            <a:rPr lang="en-IN" dirty="0"/>
            <a:t>Dataset Collection</a:t>
          </a:r>
        </a:p>
      </dgm:t>
    </dgm:pt>
    <dgm:pt modelId="{BE541A6A-D9F5-419B-A17F-7ADF330DE856}" type="parTrans" cxnId="{9BD9FFA7-3774-4BA6-BF1C-97822C4DFC14}">
      <dgm:prSet/>
      <dgm:spPr/>
      <dgm:t>
        <a:bodyPr/>
        <a:lstStyle/>
        <a:p>
          <a:endParaRPr lang="en-IN"/>
        </a:p>
      </dgm:t>
    </dgm:pt>
    <dgm:pt modelId="{3532E708-9379-4904-BA34-CF56DB05AFDD}" type="sibTrans" cxnId="{9BD9FFA7-3774-4BA6-BF1C-97822C4DFC14}">
      <dgm:prSet/>
      <dgm:spPr/>
      <dgm:t>
        <a:bodyPr/>
        <a:lstStyle/>
        <a:p>
          <a:endParaRPr lang="en-IN"/>
        </a:p>
      </dgm:t>
    </dgm:pt>
    <dgm:pt modelId="{E8963AEF-F429-49B2-B24E-26F8CF734CDA}">
      <dgm:prSet phldrT="[Text]"/>
      <dgm:spPr/>
      <dgm:t>
        <a:bodyPr/>
        <a:lstStyle/>
        <a:p>
          <a:r>
            <a:rPr lang="en-US" dirty="0"/>
            <a:t>Data Cleaning</a:t>
          </a:r>
          <a:endParaRPr lang="en-IN" dirty="0"/>
        </a:p>
      </dgm:t>
    </dgm:pt>
    <dgm:pt modelId="{9AF565ED-4E06-4EAB-8662-725D93ABDB34}" type="parTrans" cxnId="{260C79E3-DC83-48BB-9E2F-058013ECDA32}">
      <dgm:prSet/>
      <dgm:spPr/>
      <dgm:t>
        <a:bodyPr/>
        <a:lstStyle/>
        <a:p>
          <a:endParaRPr lang="en-IN"/>
        </a:p>
      </dgm:t>
    </dgm:pt>
    <dgm:pt modelId="{FF88322C-F274-48A8-A448-851C2371C6B0}" type="sibTrans" cxnId="{260C79E3-DC83-48BB-9E2F-058013ECDA32}">
      <dgm:prSet/>
      <dgm:spPr/>
      <dgm:t>
        <a:bodyPr/>
        <a:lstStyle/>
        <a:p>
          <a:endParaRPr lang="en-IN"/>
        </a:p>
      </dgm:t>
    </dgm:pt>
    <dgm:pt modelId="{E8547AF9-82EC-4C27-8B0E-DCE73AB96CD3}">
      <dgm:prSet phldrT="[Text]"/>
      <dgm:spPr/>
      <dgm:t>
        <a:bodyPr/>
        <a:lstStyle/>
        <a:p>
          <a:r>
            <a:rPr lang="en-IN" dirty="0"/>
            <a:t>Preprocessing</a:t>
          </a:r>
        </a:p>
      </dgm:t>
    </dgm:pt>
    <dgm:pt modelId="{2AF09A2A-E583-4CD9-91D9-608295C03546}" type="parTrans" cxnId="{EACCF8BA-963B-4A0E-834C-9B7C07B3570F}">
      <dgm:prSet/>
      <dgm:spPr/>
      <dgm:t>
        <a:bodyPr/>
        <a:lstStyle/>
        <a:p>
          <a:endParaRPr lang="en-IN"/>
        </a:p>
      </dgm:t>
    </dgm:pt>
    <dgm:pt modelId="{06D1ABFB-62FC-4D0F-9467-893E3DC8DE3B}" type="sibTrans" cxnId="{EACCF8BA-963B-4A0E-834C-9B7C07B3570F}">
      <dgm:prSet/>
      <dgm:spPr/>
      <dgm:t>
        <a:bodyPr/>
        <a:lstStyle/>
        <a:p>
          <a:endParaRPr lang="en-IN"/>
        </a:p>
      </dgm:t>
    </dgm:pt>
    <dgm:pt modelId="{1974DC7F-2640-4D9D-8F56-EA0C4A3F83C8}">
      <dgm:prSet/>
      <dgm:spPr/>
      <dgm:t>
        <a:bodyPr/>
        <a:lstStyle/>
        <a:p>
          <a:r>
            <a:rPr lang="en-IN" dirty="0"/>
            <a:t>Statistical Analysis</a:t>
          </a:r>
        </a:p>
      </dgm:t>
    </dgm:pt>
    <dgm:pt modelId="{7CAAAB90-8E0F-488A-AFE9-C87FFE01B6D4}" type="parTrans" cxnId="{A2198D29-8DE2-4A89-8AAE-98D754925714}">
      <dgm:prSet/>
      <dgm:spPr/>
      <dgm:t>
        <a:bodyPr/>
        <a:lstStyle/>
        <a:p>
          <a:endParaRPr lang="en-IN"/>
        </a:p>
      </dgm:t>
    </dgm:pt>
    <dgm:pt modelId="{60485BBA-4901-465A-98C9-C5B1CFDC7653}" type="sibTrans" cxnId="{A2198D29-8DE2-4A89-8AAE-98D754925714}">
      <dgm:prSet/>
      <dgm:spPr/>
      <dgm:t>
        <a:bodyPr/>
        <a:lstStyle/>
        <a:p>
          <a:endParaRPr lang="en-IN"/>
        </a:p>
      </dgm:t>
    </dgm:pt>
    <dgm:pt modelId="{C05ED1C4-B3B8-432F-B24D-1858FB177B8A}">
      <dgm:prSet/>
      <dgm:spPr/>
      <dgm:t>
        <a:bodyPr/>
        <a:lstStyle/>
        <a:p>
          <a:r>
            <a:rPr lang="en-IN" dirty="0"/>
            <a:t>Visualization</a:t>
          </a:r>
        </a:p>
      </dgm:t>
    </dgm:pt>
    <dgm:pt modelId="{DB015D00-019C-442F-A44D-419C066214DC}" type="parTrans" cxnId="{1B70E772-AEC6-4AE5-9BF6-168C8C4C05F1}">
      <dgm:prSet/>
      <dgm:spPr/>
      <dgm:t>
        <a:bodyPr/>
        <a:lstStyle/>
        <a:p>
          <a:endParaRPr lang="en-IN"/>
        </a:p>
      </dgm:t>
    </dgm:pt>
    <dgm:pt modelId="{FC1897D4-F3C2-498A-86B6-28E8EA764B01}" type="sibTrans" cxnId="{1B70E772-AEC6-4AE5-9BF6-168C8C4C05F1}">
      <dgm:prSet/>
      <dgm:spPr/>
      <dgm:t>
        <a:bodyPr/>
        <a:lstStyle/>
        <a:p>
          <a:endParaRPr lang="en-IN"/>
        </a:p>
      </dgm:t>
    </dgm:pt>
    <dgm:pt modelId="{8E150189-367C-4D73-BE2C-745B497C6DCC}">
      <dgm:prSet phldrT="[Text]"/>
      <dgm:spPr/>
      <dgm:t>
        <a:bodyPr/>
        <a:lstStyle/>
        <a:p>
          <a:r>
            <a:rPr lang="en-IN" dirty="0"/>
            <a:t>Insights &amp; Results</a:t>
          </a:r>
        </a:p>
      </dgm:t>
    </dgm:pt>
    <dgm:pt modelId="{2F1D30C8-A55A-4787-9361-B077115FF778}" type="parTrans" cxnId="{5976F358-C7B4-4023-B347-5F73442ED41F}">
      <dgm:prSet/>
      <dgm:spPr/>
      <dgm:t>
        <a:bodyPr/>
        <a:lstStyle/>
        <a:p>
          <a:endParaRPr lang="en-IN"/>
        </a:p>
      </dgm:t>
    </dgm:pt>
    <dgm:pt modelId="{CF29FB01-7AB3-4C3A-B4D0-FAD1A52A597D}" type="sibTrans" cxnId="{5976F358-C7B4-4023-B347-5F73442ED41F}">
      <dgm:prSet/>
      <dgm:spPr/>
      <dgm:t>
        <a:bodyPr/>
        <a:lstStyle/>
        <a:p>
          <a:endParaRPr lang="en-IN"/>
        </a:p>
      </dgm:t>
    </dgm:pt>
    <dgm:pt modelId="{7EFD81D1-5648-4A3F-A133-FC8408190F46}" type="pres">
      <dgm:prSet presAssocID="{E0F91826-C05B-413A-A8EA-DE5EEEFE52D1}" presName="rootnode" presStyleCnt="0">
        <dgm:presLayoutVars>
          <dgm:chMax/>
          <dgm:chPref/>
          <dgm:dir/>
          <dgm:animLvl val="lvl"/>
        </dgm:presLayoutVars>
      </dgm:prSet>
      <dgm:spPr/>
    </dgm:pt>
    <dgm:pt modelId="{0F3AFBF0-3605-4152-8033-69CA87EC245C}" type="pres">
      <dgm:prSet presAssocID="{66AE7FDD-49F6-451A-96F6-21CA4E84903D}" presName="composite" presStyleCnt="0"/>
      <dgm:spPr/>
    </dgm:pt>
    <dgm:pt modelId="{1C04F0EC-F148-40E7-8245-67F7538D8AEA}" type="pres">
      <dgm:prSet presAssocID="{66AE7FDD-49F6-451A-96F6-21CA4E84903D}" presName="bentUpArrow1" presStyleLbl="alignImgPlace1" presStyleIdx="0" presStyleCnt="5" custLinFactNeighborX="-67823" custLinFactNeighborY="-5264"/>
      <dgm:spPr/>
    </dgm:pt>
    <dgm:pt modelId="{2565726F-0DF7-4CBA-820F-D9652A13844C}" type="pres">
      <dgm:prSet presAssocID="{66AE7FDD-49F6-451A-96F6-21CA4E84903D}" presName="ParentText" presStyleLbl="node1" presStyleIdx="0" presStyleCnt="6" custScaleX="221308">
        <dgm:presLayoutVars>
          <dgm:chMax val="1"/>
          <dgm:chPref val="1"/>
          <dgm:bulletEnabled val="1"/>
        </dgm:presLayoutVars>
      </dgm:prSet>
      <dgm:spPr/>
    </dgm:pt>
    <dgm:pt modelId="{771A7424-BAEE-4FA2-8D39-8470BA386585}" type="pres">
      <dgm:prSet presAssocID="{66AE7FDD-49F6-451A-96F6-21CA4E84903D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68B18101-F902-4DF3-94FC-E903D19E4E0E}" type="pres">
      <dgm:prSet presAssocID="{3532E708-9379-4904-BA34-CF56DB05AFDD}" presName="sibTrans" presStyleCnt="0"/>
      <dgm:spPr/>
    </dgm:pt>
    <dgm:pt modelId="{AD508E1F-3822-44DE-A7A3-CC26AEA5D763}" type="pres">
      <dgm:prSet presAssocID="{E8963AEF-F429-49B2-B24E-26F8CF734CDA}" presName="composite" presStyleCnt="0"/>
      <dgm:spPr/>
    </dgm:pt>
    <dgm:pt modelId="{0C625D22-282C-4F47-80C1-2664B31DF7EA}" type="pres">
      <dgm:prSet presAssocID="{E8963AEF-F429-49B2-B24E-26F8CF734CDA}" presName="bentUpArrow1" presStyleLbl="alignImgPlace1" presStyleIdx="1" presStyleCnt="5" custLinFactNeighborX="-70905" custLinFactNeighborY="5265"/>
      <dgm:spPr/>
    </dgm:pt>
    <dgm:pt modelId="{C007A476-4F38-4A90-91E4-449E57DE4CE5}" type="pres">
      <dgm:prSet presAssocID="{E8963AEF-F429-49B2-B24E-26F8CF734CDA}" presName="ParentText" presStyleLbl="node1" presStyleIdx="1" presStyleCnt="6" custScaleX="195143" custLinFactNeighborX="-17871" custLinFactNeighborY="2509">
        <dgm:presLayoutVars>
          <dgm:chMax val="1"/>
          <dgm:chPref val="1"/>
          <dgm:bulletEnabled val="1"/>
        </dgm:presLayoutVars>
      </dgm:prSet>
      <dgm:spPr/>
    </dgm:pt>
    <dgm:pt modelId="{A26DE835-14C2-4FE4-B271-908AFEC5E09D}" type="pres">
      <dgm:prSet presAssocID="{E8963AEF-F429-49B2-B24E-26F8CF734CDA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11D466E6-8579-4523-A80D-54DB0E1A6DA7}" type="pres">
      <dgm:prSet presAssocID="{FF88322C-F274-48A8-A448-851C2371C6B0}" presName="sibTrans" presStyleCnt="0"/>
      <dgm:spPr/>
    </dgm:pt>
    <dgm:pt modelId="{15F5BF52-FB6F-45C5-9957-842FBDDF6CBE}" type="pres">
      <dgm:prSet presAssocID="{E8547AF9-82EC-4C27-8B0E-DCE73AB96CD3}" presName="composite" presStyleCnt="0"/>
      <dgm:spPr/>
    </dgm:pt>
    <dgm:pt modelId="{A331A407-8BD5-4AAA-BA92-397FA62C3702}" type="pres">
      <dgm:prSet presAssocID="{E8547AF9-82EC-4C27-8B0E-DCE73AB96CD3}" presName="bentUpArrow1" presStyleLbl="alignImgPlace1" presStyleIdx="2" presStyleCnt="5" custLinFactNeighborX="-83237" custLinFactNeighborY="-8774"/>
      <dgm:spPr/>
    </dgm:pt>
    <dgm:pt modelId="{455B6200-DFFD-4563-AD7B-05A693056A92}" type="pres">
      <dgm:prSet presAssocID="{E8547AF9-82EC-4C27-8B0E-DCE73AB96CD3}" presName="ParentText" presStyleLbl="node1" presStyleIdx="2" presStyleCnt="6" custScaleX="188493" custLinFactNeighborX="-28528" custLinFactNeighborY="-4630">
        <dgm:presLayoutVars>
          <dgm:chMax val="1"/>
          <dgm:chPref val="1"/>
          <dgm:bulletEnabled val="1"/>
        </dgm:presLayoutVars>
      </dgm:prSet>
      <dgm:spPr/>
    </dgm:pt>
    <dgm:pt modelId="{4DBFEBA1-699E-459A-912C-66347FC4B271}" type="pres">
      <dgm:prSet presAssocID="{E8547AF9-82EC-4C27-8B0E-DCE73AB96CD3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7D8AF798-67DB-43AE-A735-B6B81BD75AF9}" type="pres">
      <dgm:prSet presAssocID="{06D1ABFB-62FC-4D0F-9467-893E3DC8DE3B}" presName="sibTrans" presStyleCnt="0"/>
      <dgm:spPr/>
    </dgm:pt>
    <dgm:pt modelId="{92989920-F441-4406-93AA-68AE309D144A}" type="pres">
      <dgm:prSet presAssocID="{1974DC7F-2640-4D9D-8F56-EA0C4A3F83C8}" presName="composite" presStyleCnt="0"/>
      <dgm:spPr/>
    </dgm:pt>
    <dgm:pt modelId="{AC57DD81-AD82-4BC5-ABF6-917D7BD57ACD}" type="pres">
      <dgm:prSet presAssocID="{1974DC7F-2640-4D9D-8F56-EA0C4A3F83C8}" presName="bentUpArrow1" presStyleLbl="alignImgPlace1" presStyleIdx="3" presStyleCnt="5" custLinFactNeighborX="-94027" custLinFactNeighborY="5265"/>
      <dgm:spPr/>
    </dgm:pt>
    <dgm:pt modelId="{9F77A978-C076-457D-9889-7DCEC61D13C1}" type="pres">
      <dgm:prSet presAssocID="{1974DC7F-2640-4D9D-8F56-EA0C4A3F83C8}" presName="ParentText" presStyleLbl="node1" presStyleIdx="3" presStyleCnt="6" custScaleX="234834" custLinFactNeighborX="-38570" custLinFactNeighborY="-2979">
        <dgm:presLayoutVars>
          <dgm:chMax val="1"/>
          <dgm:chPref val="1"/>
          <dgm:bulletEnabled val="1"/>
        </dgm:presLayoutVars>
      </dgm:prSet>
      <dgm:spPr/>
    </dgm:pt>
    <dgm:pt modelId="{B84845BF-462A-454F-A7B0-8553FE31AE51}" type="pres">
      <dgm:prSet presAssocID="{1974DC7F-2640-4D9D-8F56-EA0C4A3F83C8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2308A05F-B76D-43A8-9F92-EC2A9AA4FB43}" type="pres">
      <dgm:prSet presAssocID="{60485BBA-4901-465A-98C9-C5B1CFDC7653}" presName="sibTrans" presStyleCnt="0"/>
      <dgm:spPr/>
    </dgm:pt>
    <dgm:pt modelId="{D97DE528-0BB7-4D43-B154-3BC17776819D}" type="pres">
      <dgm:prSet presAssocID="{C05ED1C4-B3B8-432F-B24D-1858FB177B8A}" presName="composite" presStyleCnt="0"/>
      <dgm:spPr/>
    </dgm:pt>
    <dgm:pt modelId="{4C9A8DC7-4351-4D5F-A478-3FCD9F38CE41}" type="pres">
      <dgm:prSet presAssocID="{C05ED1C4-B3B8-432F-B24D-1858FB177B8A}" presName="bentUpArrow1" presStyleLbl="alignImgPlace1" presStyleIdx="4" presStyleCnt="5" custLinFactNeighborX="-79534" custLinFactNeighborY="4719"/>
      <dgm:spPr/>
    </dgm:pt>
    <dgm:pt modelId="{F742B3FE-EFA3-4AEE-B217-EC36C3F7B468}" type="pres">
      <dgm:prSet presAssocID="{C05ED1C4-B3B8-432F-B24D-1858FB177B8A}" presName="ParentText" presStyleLbl="node1" presStyleIdx="4" presStyleCnt="6" custScaleX="167637" custLinFactNeighborX="-26091" custLinFactNeighborY="-8164">
        <dgm:presLayoutVars>
          <dgm:chMax val="1"/>
          <dgm:chPref val="1"/>
          <dgm:bulletEnabled val="1"/>
        </dgm:presLayoutVars>
      </dgm:prSet>
      <dgm:spPr/>
    </dgm:pt>
    <dgm:pt modelId="{0DC7570D-4E35-44DE-BCA6-0DFC142C6E0A}" type="pres">
      <dgm:prSet presAssocID="{C05ED1C4-B3B8-432F-B24D-1858FB177B8A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E966FE97-5337-4082-A98E-82BFC8DEF434}" type="pres">
      <dgm:prSet presAssocID="{FC1897D4-F3C2-498A-86B6-28E8EA764B01}" presName="sibTrans" presStyleCnt="0"/>
      <dgm:spPr/>
    </dgm:pt>
    <dgm:pt modelId="{66C89A50-3BA3-4278-8B57-DCFE4C72135C}" type="pres">
      <dgm:prSet presAssocID="{8E150189-367C-4D73-BE2C-745B497C6DCC}" presName="composite" presStyleCnt="0"/>
      <dgm:spPr/>
    </dgm:pt>
    <dgm:pt modelId="{44D6ADB0-AD7A-4EA3-AF60-D425A55DEEBC}" type="pres">
      <dgm:prSet presAssocID="{8E150189-367C-4D73-BE2C-745B497C6DCC}" presName="ParentText" presStyleLbl="node1" presStyleIdx="5" presStyleCnt="6" custScaleX="226479" custLinFactNeighborX="-52271" custLinFactNeighborY="-9868">
        <dgm:presLayoutVars>
          <dgm:chMax val="1"/>
          <dgm:chPref val="1"/>
          <dgm:bulletEnabled val="1"/>
        </dgm:presLayoutVars>
      </dgm:prSet>
      <dgm:spPr/>
    </dgm:pt>
  </dgm:ptLst>
  <dgm:cxnLst>
    <dgm:cxn modelId="{20153C0C-08B9-45F1-ADE2-3DA0792A647C}" type="presOf" srcId="{66AE7FDD-49F6-451A-96F6-21CA4E84903D}" destId="{2565726F-0DF7-4CBA-820F-D9652A13844C}" srcOrd="0" destOrd="0" presId="urn:microsoft.com/office/officeart/2005/8/layout/StepDownProcess"/>
    <dgm:cxn modelId="{A2198D29-8DE2-4A89-8AAE-98D754925714}" srcId="{E0F91826-C05B-413A-A8EA-DE5EEEFE52D1}" destId="{1974DC7F-2640-4D9D-8F56-EA0C4A3F83C8}" srcOrd="3" destOrd="0" parTransId="{7CAAAB90-8E0F-488A-AFE9-C87FFE01B6D4}" sibTransId="{60485BBA-4901-465A-98C9-C5B1CFDC7653}"/>
    <dgm:cxn modelId="{8E59AF2B-3595-4B2B-9EBD-ECA95DC32094}" type="presOf" srcId="{E0F91826-C05B-413A-A8EA-DE5EEEFE52D1}" destId="{7EFD81D1-5648-4A3F-A133-FC8408190F46}" srcOrd="0" destOrd="0" presId="urn:microsoft.com/office/officeart/2005/8/layout/StepDownProcess"/>
    <dgm:cxn modelId="{AB327F3B-DD71-403C-AF72-452208DCBE4B}" type="presOf" srcId="{8E150189-367C-4D73-BE2C-745B497C6DCC}" destId="{44D6ADB0-AD7A-4EA3-AF60-D425A55DEEBC}" srcOrd="0" destOrd="0" presId="urn:microsoft.com/office/officeart/2005/8/layout/StepDownProcess"/>
    <dgm:cxn modelId="{1B70E772-AEC6-4AE5-9BF6-168C8C4C05F1}" srcId="{E0F91826-C05B-413A-A8EA-DE5EEEFE52D1}" destId="{C05ED1C4-B3B8-432F-B24D-1858FB177B8A}" srcOrd="4" destOrd="0" parTransId="{DB015D00-019C-442F-A44D-419C066214DC}" sibTransId="{FC1897D4-F3C2-498A-86B6-28E8EA764B01}"/>
    <dgm:cxn modelId="{5976F358-C7B4-4023-B347-5F73442ED41F}" srcId="{E0F91826-C05B-413A-A8EA-DE5EEEFE52D1}" destId="{8E150189-367C-4D73-BE2C-745B497C6DCC}" srcOrd="5" destOrd="0" parTransId="{2F1D30C8-A55A-4787-9361-B077115FF778}" sibTransId="{CF29FB01-7AB3-4C3A-B4D0-FAD1A52A597D}"/>
    <dgm:cxn modelId="{9BD9FFA7-3774-4BA6-BF1C-97822C4DFC14}" srcId="{E0F91826-C05B-413A-A8EA-DE5EEEFE52D1}" destId="{66AE7FDD-49F6-451A-96F6-21CA4E84903D}" srcOrd="0" destOrd="0" parTransId="{BE541A6A-D9F5-419B-A17F-7ADF330DE856}" sibTransId="{3532E708-9379-4904-BA34-CF56DB05AFDD}"/>
    <dgm:cxn modelId="{5175F0B1-D0DA-48AC-804E-FDE69A2A8BAE}" type="presOf" srcId="{1974DC7F-2640-4D9D-8F56-EA0C4A3F83C8}" destId="{9F77A978-C076-457D-9889-7DCEC61D13C1}" srcOrd="0" destOrd="0" presId="urn:microsoft.com/office/officeart/2005/8/layout/StepDownProcess"/>
    <dgm:cxn modelId="{7885C4B2-8B6D-43C1-8F2F-2945F4BDC7FB}" type="presOf" srcId="{E8963AEF-F429-49B2-B24E-26F8CF734CDA}" destId="{C007A476-4F38-4A90-91E4-449E57DE4CE5}" srcOrd="0" destOrd="0" presId="urn:microsoft.com/office/officeart/2005/8/layout/StepDownProcess"/>
    <dgm:cxn modelId="{EACCF8BA-963B-4A0E-834C-9B7C07B3570F}" srcId="{E0F91826-C05B-413A-A8EA-DE5EEEFE52D1}" destId="{E8547AF9-82EC-4C27-8B0E-DCE73AB96CD3}" srcOrd="2" destOrd="0" parTransId="{2AF09A2A-E583-4CD9-91D9-608295C03546}" sibTransId="{06D1ABFB-62FC-4D0F-9467-893E3DC8DE3B}"/>
    <dgm:cxn modelId="{398DFFCA-FF02-4583-9B49-7496474A0BFF}" type="presOf" srcId="{C05ED1C4-B3B8-432F-B24D-1858FB177B8A}" destId="{F742B3FE-EFA3-4AEE-B217-EC36C3F7B468}" srcOrd="0" destOrd="0" presId="urn:microsoft.com/office/officeart/2005/8/layout/StepDownProcess"/>
    <dgm:cxn modelId="{260C79E3-DC83-48BB-9E2F-058013ECDA32}" srcId="{E0F91826-C05B-413A-A8EA-DE5EEEFE52D1}" destId="{E8963AEF-F429-49B2-B24E-26F8CF734CDA}" srcOrd="1" destOrd="0" parTransId="{9AF565ED-4E06-4EAB-8662-725D93ABDB34}" sibTransId="{FF88322C-F274-48A8-A448-851C2371C6B0}"/>
    <dgm:cxn modelId="{AFE063FE-B040-4144-A3F6-32C84D38CA9D}" type="presOf" srcId="{E8547AF9-82EC-4C27-8B0E-DCE73AB96CD3}" destId="{455B6200-DFFD-4563-AD7B-05A693056A92}" srcOrd="0" destOrd="0" presId="urn:microsoft.com/office/officeart/2005/8/layout/StepDownProcess"/>
    <dgm:cxn modelId="{43414CD3-9BDA-467E-AE7A-0B0B86B730B9}" type="presParOf" srcId="{7EFD81D1-5648-4A3F-A133-FC8408190F46}" destId="{0F3AFBF0-3605-4152-8033-69CA87EC245C}" srcOrd="0" destOrd="0" presId="urn:microsoft.com/office/officeart/2005/8/layout/StepDownProcess"/>
    <dgm:cxn modelId="{16284D7C-D74F-4E4B-BD64-7B6FA480BB26}" type="presParOf" srcId="{0F3AFBF0-3605-4152-8033-69CA87EC245C}" destId="{1C04F0EC-F148-40E7-8245-67F7538D8AEA}" srcOrd="0" destOrd="0" presId="urn:microsoft.com/office/officeart/2005/8/layout/StepDownProcess"/>
    <dgm:cxn modelId="{1304C602-1088-4B41-B7CF-1DEC4029FD7D}" type="presParOf" srcId="{0F3AFBF0-3605-4152-8033-69CA87EC245C}" destId="{2565726F-0DF7-4CBA-820F-D9652A13844C}" srcOrd="1" destOrd="0" presId="urn:microsoft.com/office/officeart/2005/8/layout/StepDownProcess"/>
    <dgm:cxn modelId="{E0BFC68A-C989-4FDF-862C-3FE1DF02D50F}" type="presParOf" srcId="{0F3AFBF0-3605-4152-8033-69CA87EC245C}" destId="{771A7424-BAEE-4FA2-8D39-8470BA386585}" srcOrd="2" destOrd="0" presId="urn:microsoft.com/office/officeart/2005/8/layout/StepDownProcess"/>
    <dgm:cxn modelId="{80CB2231-04A1-4E05-86A0-FFBE2DE27AD5}" type="presParOf" srcId="{7EFD81D1-5648-4A3F-A133-FC8408190F46}" destId="{68B18101-F902-4DF3-94FC-E903D19E4E0E}" srcOrd="1" destOrd="0" presId="urn:microsoft.com/office/officeart/2005/8/layout/StepDownProcess"/>
    <dgm:cxn modelId="{73FD8E25-972E-4EF3-A3DD-EB0F7FEE1461}" type="presParOf" srcId="{7EFD81D1-5648-4A3F-A133-FC8408190F46}" destId="{AD508E1F-3822-44DE-A7A3-CC26AEA5D763}" srcOrd="2" destOrd="0" presId="urn:microsoft.com/office/officeart/2005/8/layout/StepDownProcess"/>
    <dgm:cxn modelId="{0D94FC85-1251-40EA-A24C-8F792CC0A12D}" type="presParOf" srcId="{AD508E1F-3822-44DE-A7A3-CC26AEA5D763}" destId="{0C625D22-282C-4F47-80C1-2664B31DF7EA}" srcOrd="0" destOrd="0" presId="urn:microsoft.com/office/officeart/2005/8/layout/StepDownProcess"/>
    <dgm:cxn modelId="{DF2B7EED-3053-4388-B2C1-69F70FD975F8}" type="presParOf" srcId="{AD508E1F-3822-44DE-A7A3-CC26AEA5D763}" destId="{C007A476-4F38-4A90-91E4-449E57DE4CE5}" srcOrd="1" destOrd="0" presId="urn:microsoft.com/office/officeart/2005/8/layout/StepDownProcess"/>
    <dgm:cxn modelId="{6F71C54B-71F5-4D9A-98F2-F3D17F420712}" type="presParOf" srcId="{AD508E1F-3822-44DE-A7A3-CC26AEA5D763}" destId="{A26DE835-14C2-4FE4-B271-908AFEC5E09D}" srcOrd="2" destOrd="0" presId="urn:microsoft.com/office/officeart/2005/8/layout/StepDownProcess"/>
    <dgm:cxn modelId="{175EDE5F-CC1C-43F9-86C7-00A51F2D481B}" type="presParOf" srcId="{7EFD81D1-5648-4A3F-A133-FC8408190F46}" destId="{11D466E6-8579-4523-A80D-54DB0E1A6DA7}" srcOrd="3" destOrd="0" presId="urn:microsoft.com/office/officeart/2005/8/layout/StepDownProcess"/>
    <dgm:cxn modelId="{462D847D-41C9-4806-A04A-62CDE280467C}" type="presParOf" srcId="{7EFD81D1-5648-4A3F-A133-FC8408190F46}" destId="{15F5BF52-FB6F-45C5-9957-842FBDDF6CBE}" srcOrd="4" destOrd="0" presId="urn:microsoft.com/office/officeart/2005/8/layout/StepDownProcess"/>
    <dgm:cxn modelId="{06609EB2-4035-451E-803C-0F490E4387D2}" type="presParOf" srcId="{15F5BF52-FB6F-45C5-9957-842FBDDF6CBE}" destId="{A331A407-8BD5-4AAA-BA92-397FA62C3702}" srcOrd="0" destOrd="0" presId="urn:microsoft.com/office/officeart/2005/8/layout/StepDownProcess"/>
    <dgm:cxn modelId="{2DBDBFFE-5E8B-4D8E-958C-AE604A2993B0}" type="presParOf" srcId="{15F5BF52-FB6F-45C5-9957-842FBDDF6CBE}" destId="{455B6200-DFFD-4563-AD7B-05A693056A92}" srcOrd="1" destOrd="0" presId="urn:microsoft.com/office/officeart/2005/8/layout/StepDownProcess"/>
    <dgm:cxn modelId="{1E9664DF-C92D-4591-B59B-E6D20E5BDD6B}" type="presParOf" srcId="{15F5BF52-FB6F-45C5-9957-842FBDDF6CBE}" destId="{4DBFEBA1-699E-459A-912C-66347FC4B271}" srcOrd="2" destOrd="0" presId="urn:microsoft.com/office/officeart/2005/8/layout/StepDownProcess"/>
    <dgm:cxn modelId="{7A97BAF5-B218-441B-A449-793A5C3A7197}" type="presParOf" srcId="{7EFD81D1-5648-4A3F-A133-FC8408190F46}" destId="{7D8AF798-67DB-43AE-A735-B6B81BD75AF9}" srcOrd="5" destOrd="0" presId="urn:microsoft.com/office/officeart/2005/8/layout/StepDownProcess"/>
    <dgm:cxn modelId="{E2A42742-1CE9-4FF4-B029-C56A20AA80E1}" type="presParOf" srcId="{7EFD81D1-5648-4A3F-A133-FC8408190F46}" destId="{92989920-F441-4406-93AA-68AE309D144A}" srcOrd="6" destOrd="0" presId="urn:microsoft.com/office/officeart/2005/8/layout/StepDownProcess"/>
    <dgm:cxn modelId="{0095D3D6-DE50-49CD-8A82-E010C804EEA7}" type="presParOf" srcId="{92989920-F441-4406-93AA-68AE309D144A}" destId="{AC57DD81-AD82-4BC5-ABF6-917D7BD57ACD}" srcOrd="0" destOrd="0" presId="urn:microsoft.com/office/officeart/2005/8/layout/StepDownProcess"/>
    <dgm:cxn modelId="{E9CD1B59-59E4-4F5C-80B9-E11FDD1E6379}" type="presParOf" srcId="{92989920-F441-4406-93AA-68AE309D144A}" destId="{9F77A978-C076-457D-9889-7DCEC61D13C1}" srcOrd="1" destOrd="0" presId="urn:microsoft.com/office/officeart/2005/8/layout/StepDownProcess"/>
    <dgm:cxn modelId="{DA907EA8-F214-41B4-9831-F869384326D9}" type="presParOf" srcId="{92989920-F441-4406-93AA-68AE309D144A}" destId="{B84845BF-462A-454F-A7B0-8553FE31AE51}" srcOrd="2" destOrd="0" presId="urn:microsoft.com/office/officeart/2005/8/layout/StepDownProcess"/>
    <dgm:cxn modelId="{5C73A59A-F6BB-4F02-879B-6579224A06D5}" type="presParOf" srcId="{7EFD81D1-5648-4A3F-A133-FC8408190F46}" destId="{2308A05F-B76D-43A8-9F92-EC2A9AA4FB43}" srcOrd="7" destOrd="0" presId="urn:microsoft.com/office/officeart/2005/8/layout/StepDownProcess"/>
    <dgm:cxn modelId="{43C5B91A-F445-4A90-99EB-EF49A73DDE92}" type="presParOf" srcId="{7EFD81D1-5648-4A3F-A133-FC8408190F46}" destId="{D97DE528-0BB7-4D43-B154-3BC17776819D}" srcOrd="8" destOrd="0" presId="urn:microsoft.com/office/officeart/2005/8/layout/StepDownProcess"/>
    <dgm:cxn modelId="{6979D2E1-4EFD-4F31-BC1E-487D4179A248}" type="presParOf" srcId="{D97DE528-0BB7-4D43-B154-3BC17776819D}" destId="{4C9A8DC7-4351-4D5F-A478-3FCD9F38CE41}" srcOrd="0" destOrd="0" presId="urn:microsoft.com/office/officeart/2005/8/layout/StepDownProcess"/>
    <dgm:cxn modelId="{3891B495-659B-4E8A-B240-91BADE47F183}" type="presParOf" srcId="{D97DE528-0BB7-4D43-B154-3BC17776819D}" destId="{F742B3FE-EFA3-4AEE-B217-EC36C3F7B468}" srcOrd="1" destOrd="0" presId="urn:microsoft.com/office/officeart/2005/8/layout/StepDownProcess"/>
    <dgm:cxn modelId="{35D2B97E-CE45-4E9E-8C3C-285294CE9712}" type="presParOf" srcId="{D97DE528-0BB7-4D43-B154-3BC17776819D}" destId="{0DC7570D-4E35-44DE-BCA6-0DFC142C6E0A}" srcOrd="2" destOrd="0" presId="urn:microsoft.com/office/officeart/2005/8/layout/StepDownProcess"/>
    <dgm:cxn modelId="{6ADA844D-BA0D-4497-9551-2616423A3CE4}" type="presParOf" srcId="{7EFD81D1-5648-4A3F-A133-FC8408190F46}" destId="{E966FE97-5337-4082-A98E-82BFC8DEF434}" srcOrd="9" destOrd="0" presId="urn:microsoft.com/office/officeart/2005/8/layout/StepDownProcess"/>
    <dgm:cxn modelId="{C668EFC8-1CCF-4E15-9859-0774D75D37B0}" type="presParOf" srcId="{7EFD81D1-5648-4A3F-A133-FC8408190F46}" destId="{66C89A50-3BA3-4278-8B57-DCFE4C72135C}" srcOrd="10" destOrd="0" presId="urn:microsoft.com/office/officeart/2005/8/layout/StepDownProcess"/>
    <dgm:cxn modelId="{28AEDB93-4D79-4CAB-8589-32A853CEB385}" type="presParOf" srcId="{66C89A50-3BA3-4278-8B57-DCFE4C72135C}" destId="{44D6ADB0-AD7A-4EA3-AF60-D425A55DEEBC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4F0EC-F148-40E7-8245-67F7538D8AEA}">
      <dsp:nvSpPr>
        <dsp:cNvPr id="0" name=""/>
        <dsp:cNvSpPr/>
      </dsp:nvSpPr>
      <dsp:spPr>
        <a:xfrm rot="5400000">
          <a:off x="1164697" y="687998"/>
          <a:ext cx="620319" cy="70621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5726F-0DF7-4CBA-820F-D9652A13844C}">
      <dsp:nvSpPr>
        <dsp:cNvPr id="0" name=""/>
        <dsp:cNvSpPr/>
      </dsp:nvSpPr>
      <dsp:spPr>
        <a:xfrm>
          <a:off x="845943" y="33014"/>
          <a:ext cx="2311015" cy="7309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Dataset Collection</a:t>
          </a:r>
        </a:p>
      </dsp:txBody>
      <dsp:txXfrm>
        <a:off x="881631" y="68702"/>
        <a:ext cx="2239639" cy="659567"/>
      </dsp:txXfrm>
    </dsp:sp>
    <dsp:sp modelId="{771A7424-BAEE-4FA2-8D39-8470BA386585}">
      <dsp:nvSpPr>
        <dsp:cNvPr id="0" name=""/>
        <dsp:cNvSpPr/>
      </dsp:nvSpPr>
      <dsp:spPr>
        <a:xfrm>
          <a:off x="2523577" y="102727"/>
          <a:ext cx="759490" cy="59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625D22-282C-4F47-80C1-2664B31DF7EA}">
      <dsp:nvSpPr>
        <dsp:cNvPr id="0" name=""/>
        <dsp:cNvSpPr/>
      </dsp:nvSpPr>
      <dsp:spPr>
        <a:xfrm rot="5400000">
          <a:off x="2176137" y="1574402"/>
          <a:ext cx="620319" cy="70621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07A476-4F38-4A90-91E4-449E57DE4CE5}">
      <dsp:nvSpPr>
        <dsp:cNvPr id="0" name=""/>
        <dsp:cNvSpPr/>
      </dsp:nvSpPr>
      <dsp:spPr>
        <a:xfrm>
          <a:off x="1829144" y="872444"/>
          <a:ext cx="2037786" cy="7309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Cleaning</a:t>
          </a:r>
          <a:endParaRPr lang="en-IN" sz="2200" kern="1200" dirty="0"/>
        </a:p>
      </dsp:txBody>
      <dsp:txXfrm>
        <a:off x="1864832" y="908132"/>
        <a:ext cx="1966410" cy="659567"/>
      </dsp:txXfrm>
    </dsp:sp>
    <dsp:sp modelId="{A26DE835-14C2-4FE4-B271-908AFEC5E09D}">
      <dsp:nvSpPr>
        <dsp:cNvPr id="0" name=""/>
        <dsp:cNvSpPr/>
      </dsp:nvSpPr>
      <dsp:spPr>
        <a:xfrm>
          <a:off x="3556783" y="923817"/>
          <a:ext cx="759490" cy="59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31A407-8BD5-4AAA-BA92-397FA62C3702}">
      <dsp:nvSpPr>
        <dsp:cNvPr id="0" name=""/>
        <dsp:cNvSpPr/>
      </dsp:nvSpPr>
      <dsp:spPr>
        <a:xfrm rot="5400000">
          <a:off x="3224145" y="2308405"/>
          <a:ext cx="620319" cy="70621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B6200-DFFD-4563-AD7B-05A693056A92}">
      <dsp:nvSpPr>
        <dsp:cNvPr id="0" name=""/>
        <dsp:cNvSpPr/>
      </dsp:nvSpPr>
      <dsp:spPr>
        <a:xfrm>
          <a:off x="2887678" y="1641353"/>
          <a:ext cx="1968344" cy="7309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Preprocessing</a:t>
          </a:r>
        </a:p>
      </dsp:txBody>
      <dsp:txXfrm>
        <a:off x="2923366" y="1677041"/>
        <a:ext cx="1896968" cy="659567"/>
      </dsp:txXfrm>
    </dsp:sp>
    <dsp:sp modelId="{4DBFEBA1-699E-459A-912C-66347FC4B271}">
      <dsp:nvSpPr>
        <dsp:cNvPr id="0" name=""/>
        <dsp:cNvSpPr/>
      </dsp:nvSpPr>
      <dsp:spPr>
        <a:xfrm>
          <a:off x="4691881" y="1744908"/>
          <a:ext cx="759490" cy="59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57DD81-AD82-4BC5-ABF6-917D7BD57ACD}">
      <dsp:nvSpPr>
        <dsp:cNvPr id="0" name=""/>
        <dsp:cNvSpPr/>
      </dsp:nvSpPr>
      <dsp:spPr>
        <a:xfrm rot="5400000">
          <a:off x="4559724" y="3216583"/>
          <a:ext cx="620319" cy="70621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7A978-C076-457D-9889-7DCEC61D13C1}">
      <dsp:nvSpPr>
        <dsp:cNvPr id="0" name=""/>
        <dsp:cNvSpPr/>
      </dsp:nvSpPr>
      <dsp:spPr>
        <a:xfrm>
          <a:off x="3952634" y="2474511"/>
          <a:ext cx="2452261" cy="7309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Statistical Analysis</a:t>
          </a:r>
        </a:p>
      </dsp:txBody>
      <dsp:txXfrm>
        <a:off x="3988322" y="2510199"/>
        <a:ext cx="2380885" cy="659567"/>
      </dsp:txXfrm>
    </dsp:sp>
    <dsp:sp modelId="{B84845BF-462A-454F-A7B0-8553FE31AE51}">
      <dsp:nvSpPr>
        <dsp:cNvPr id="0" name=""/>
        <dsp:cNvSpPr/>
      </dsp:nvSpPr>
      <dsp:spPr>
        <a:xfrm>
          <a:off x="6103660" y="2565998"/>
          <a:ext cx="759490" cy="59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9A8DC7-4351-4D5F-A478-3FCD9F38CE41}">
      <dsp:nvSpPr>
        <dsp:cNvPr id="0" name=""/>
        <dsp:cNvSpPr/>
      </dsp:nvSpPr>
      <dsp:spPr>
        <a:xfrm rot="5400000">
          <a:off x="5481041" y="4034286"/>
          <a:ext cx="620319" cy="70621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42B3FE-EFA3-4AEE-B217-EC36C3F7B468}">
      <dsp:nvSpPr>
        <dsp:cNvPr id="0" name=""/>
        <dsp:cNvSpPr/>
      </dsp:nvSpPr>
      <dsp:spPr>
        <a:xfrm>
          <a:off x="5252766" y="3257702"/>
          <a:ext cx="1750554" cy="7309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Visualization</a:t>
          </a:r>
        </a:p>
      </dsp:txBody>
      <dsp:txXfrm>
        <a:off x="5288454" y="3293390"/>
        <a:ext cx="1679178" cy="659567"/>
      </dsp:txXfrm>
    </dsp:sp>
    <dsp:sp modelId="{0DC7570D-4E35-44DE-BCA6-0DFC142C6E0A}">
      <dsp:nvSpPr>
        <dsp:cNvPr id="0" name=""/>
        <dsp:cNvSpPr/>
      </dsp:nvSpPr>
      <dsp:spPr>
        <a:xfrm>
          <a:off x="6922626" y="3387089"/>
          <a:ext cx="759490" cy="59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6ADB0-AD7A-4EA3-AF60-D425A55DEEBC}">
      <dsp:nvSpPr>
        <dsp:cNvPr id="0" name=""/>
        <dsp:cNvSpPr/>
      </dsp:nvSpPr>
      <dsp:spPr>
        <a:xfrm>
          <a:off x="6149201" y="4066338"/>
          <a:ext cx="2365014" cy="7309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Insights &amp; Results</a:t>
          </a:r>
        </a:p>
      </dsp:txBody>
      <dsp:txXfrm>
        <a:off x="6184889" y="4102026"/>
        <a:ext cx="2293638" cy="6595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63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46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88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72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40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84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94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00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56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30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822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7930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72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279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458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723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60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7F1F1-7120-4F41-AC89-F5E76D2E93F4}" type="datetimeFigureOut">
              <a:rPr lang="en-IN" smtClean="0"/>
              <a:t>06-05-2026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49B1-56B6-45DA-84A5-858E744E40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022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30BE-7964-B663-C144-0EC19F033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221"/>
            <a:ext cx="9144000" cy="1239836"/>
          </a:xfrm>
        </p:spPr>
        <p:txBody>
          <a:bodyPr>
            <a:normAutofit/>
          </a:bodyPr>
          <a:lstStyle/>
          <a:p>
            <a:r>
              <a:rPr lang="en-US" sz="7200" dirty="0"/>
              <a:t>Job Analytics Tool</a:t>
            </a: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3BAB7-5B20-EBF7-75B7-31BCD50BD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055283"/>
            <a:ext cx="9144000" cy="1446665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pPr algn="ctr" defTabSz="457200"/>
            <a:r>
              <a:rPr lang="en-IN" sz="4000" dirty="0">
                <a:solidFill>
                  <a:schemeClr val="tx1"/>
                </a:solidFill>
              </a:rPr>
              <a:t>- By -</a:t>
            </a:r>
          </a:p>
          <a:p>
            <a:pPr algn="ctr" defTabSz="457200"/>
            <a:r>
              <a:rPr lang="en-IN" sz="4000" dirty="0">
                <a:solidFill>
                  <a:schemeClr val="tx1"/>
                </a:solidFill>
              </a:rPr>
              <a:t>  Dhananjay Bilade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33BB95-194B-C49B-CDD9-42C6423908AF}"/>
              </a:ext>
            </a:extLst>
          </p:cNvPr>
          <p:cNvSpPr txBox="1">
            <a:spLocks/>
          </p:cNvSpPr>
          <p:nvPr/>
        </p:nvSpPr>
        <p:spPr>
          <a:xfrm>
            <a:off x="1524000" y="1082072"/>
            <a:ext cx="9144000" cy="6308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CLI Based Data Analysis System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B3A69-C9E0-BC1D-114B-9237BF609337}"/>
              </a:ext>
            </a:extLst>
          </p:cNvPr>
          <p:cNvSpPr txBox="1"/>
          <p:nvPr/>
        </p:nvSpPr>
        <p:spPr>
          <a:xfrm>
            <a:off x="1524000" y="3886767"/>
            <a:ext cx="91440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Python Development Internship</a:t>
            </a:r>
          </a:p>
          <a:p>
            <a:pPr algn="ctr"/>
            <a:r>
              <a:rPr lang="en-US" sz="2400" dirty="0"/>
              <a:t>-</a:t>
            </a:r>
            <a:r>
              <a:rPr lang="en-US" sz="2000" dirty="0"/>
              <a:t>  from  -</a:t>
            </a:r>
          </a:p>
          <a:p>
            <a:pPr algn="ctr"/>
            <a:endParaRPr lang="en-US" sz="2000" dirty="0"/>
          </a:p>
          <a:p>
            <a:pPr algn="ctr"/>
            <a:r>
              <a:rPr lang="en-US" sz="4000" dirty="0"/>
              <a:t>CS Vision</a:t>
            </a:r>
            <a:endParaRPr lang="en-IN" sz="4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1A80CC-756A-DE41-58D0-064D5E423292}"/>
              </a:ext>
            </a:extLst>
          </p:cNvPr>
          <p:cNvSpPr/>
          <p:nvPr/>
        </p:nvSpPr>
        <p:spPr>
          <a:xfrm>
            <a:off x="2579914" y="3886767"/>
            <a:ext cx="6988629" cy="212214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E3F4B8-33E0-7C36-44B8-88CE078C9D89}"/>
              </a:ext>
            </a:extLst>
          </p:cNvPr>
          <p:cNvCxnSpPr/>
          <p:nvPr/>
        </p:nvCxnSpPr>
        <p:spPr>
          <a:xfrm>
            <a:off x="1284514" y="1804912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283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2000">
        <p:fade/>
      </p:transition>
    </mc:Choice>
    <mc:Fallback>
      <p:transition spd="slow" advClick="0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0DB529-A4E9-0E76-A3BF-3A780F6B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72204"/>
            <a:ext cx="9905998" cy="1068767"/>
          </a:xfrm>
        </p:spPr>
        <p:txBody>
          <a:bodyPr/>
          <a:lstStyle/>
          <a:p>
            <a:r>
              <a:rPr lang="en-US" dirty="0"/>
              <a:t>About the project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27DA9E-586B-2884-BF40-2ED6C49C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82486"/>
            <a:ext cx="9905999" cy="4953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What is this project ?</a:t>
            </a:r>
          </a:p>
          <a:p>
            <a:pPr marL="0" indent="0">
              <a:buNone/>
            </a:pPr>
            <a:r>
              <a:rPr lang="en-US" dirty="0"/>
              <a:t>	The Job Analytics Tool is a Python-based CLI application developed to analyze job datasets and generate meaningful insights using statistical analysis and data visualization techniques.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800" dirty="0"/>
              <a:t>Main Purpose:</a:t>
            </a:r>
          </a:p>
          <a:p>
            <a:pPr>
              <a:buFontTx/>
              <a:buChar char="-"/>
            </a:pPr>
            <a:r>
              <a:rPr lang="en-US" dirty="0"/>
              <a:t>Analyze job market trends</a:t>
            </a:r>
          </a:p>
          <a:p>
            <a:pPr>
              <a:buFontTx/>
              <a:buChar char="-"/>
            </a:pPr>
            <a:r>
              <a:rPr lang="en-IN" dirty="0"/>
              <a:t>Study salary distribution</a:t>
            </a:r>
          </a:p>
          <a:p>
            <a:pPr>
              <a:buFontTx/>
              <a:buChar char="-"/>
            </a:pPr>
            <a:r>
              <a:rPr lang="en-IN" dirty="0"/>
              <a:t>Visualize hiring pattern</a:t>
            </a:r>
          </a:p>
          <a:p>
            <a:pPr>
              <a:buFontTx/>
              <a:buChar char="-"/>
            </a:pPr>
            <a:r>
              <a:rPr lang="en-IN" dirty="0"/>
              <a:t>Understand relationship between experience and salary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3AA5D3-A20A-6D1B-9103-D2E6E27FE251}"/>
              </a:ext>
            </a:extLst>
          </p:cNvPr>
          <p:cNvCxnSpPr/>
          <p:nvPr/>
        </p:nvCxnSpPr>
        <p:spPr>
          <a:xfrm>
            <a:off x="1141412" y="1055914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107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4394-BD57-EB46-3331-6AE497379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114" y="411689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Project objectives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ACE9-05F1-8480-FBDA-2E1DDFA20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53342"/>
          </a:xfrm>
        </p:spPr>
        <p:txBody>
          <a:bodyPr>
            <a:normAutofit/>
          </a:bodyPr>
          <a:lstStyle/>
          <a:p>
            <a:r>
              <a:rPr lang="en-US" sz="2800" dirty="0"/>
              <a:t>Perform data cleaning and preprocessing</a:t>
            </a:r>
          </a:p>
          <a:p>
            <a:r>
              <a:rPr lang="en-US" sz="2800" dirty="0"/>
              <a:t>Analyze salary statistics</a:t>
            </a:r>
          </a:p>
          <a:p>
            <a:r>
              <a:rPr lang="en-US" sz="2800" dirty="0"/>
              <a:t>Generate meaningful visualizations</a:t>
            </a:r>
          </a:p>
          <a:p>
            <a:r>
              <a:rPr lang="en-US" sz="2800" dirty="0"/>
              <a:t>Identify job trends by category and location</a:t>
            </a:r>
          </a:p>
          <a:p>
            <a:r>
              <a:rPr lang="en-US" sz="2800" dirty="0"/>
              <a:t>Build a CLI-based analytics tool</a:t>
            </a:r>
            <a:endParaRPr lang="en-IN" sz="2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CEDD28-8E65-C480-BA3F-41A1E013A328}"/>
              </a:ext>
            </a:extLst>
          </p:cNvPr>
          <p:cNvCxnSpPr/>
          <p:nvPr/>
        </p:nvCxnSpPr>
        <p:spPr>
          <a:xfrm>
            <a:off x="1141412" y="1554541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909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3663-6208-C5B7-C9C1-2C1BB38A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4055"/>
            <a:ext cx="9905998" cy="1478570"/>
          </a:xfrm>
        </p:spPr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7C0CC6-D5E6-65C8-320F-75567167DB52}"/>
              </a:ext>
            </a:extLst>
          </p:cNvPr>
          <p:cNvCxnSpPr/>
          <p:nvPr/>
        </p:nvCxnSpPr>
        <p:spPr>
          <a:xfrm>
            <a:off x="1141412" y="1238854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665AAD-EBA4-4011-4922-FAB5A6544596}"/>
              </a:ext>
            </a:extLst>
          </p:cNvPr>
          <p:cNvSpPr txBox="1"/>
          <p:nvPr/>
        </p:nvSpPr>
        <p:spPr>
          <a:xfrm>
            <a:off x="2177143" y="1807029"/>
            <a:ext cx="2035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Technology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73D211-EFB8-171F-E43D-17292DA9306A}"/>
              </a:ext>
            </a:extLst>
          </p:cNvPr>
          <p:cNvSpPr txBox="1"/>
          <p:nvPr/>
        </p:nvSpPr>
        <p:spPr>
          <a:xfrm>
            <a:off x="5747659" y="1807029"/>
            <a:ext cx="1763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Purpose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3242E-D863-F484-55B4-B80885AA8BF4}"/>
              </a:ext>
            </a:extLst>
          </p:cNvPr>
          <p:cNvSpPr txBox="1"/>
          <p:nvPr/>
        </p:nvSpPr>
        <p:spPr>
          <a:xfrm>
            <a:off x="2177143" y="2455814"/>
            <a:ext cx="2035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Python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08D9C-1FF2-F47A-0183-F9888DA050B4}"/>
              </a:ext>
            </a:extLst>
          </p:cNvPr>
          <p:cNvSpPr txBox="1"/>
          <p:nvPr/>
        </p:nvSpPr>
        <p:spPr>
          <a:xfrm>
            <a:off x="2177143" y="3104599"/>
            <a:ext cx="2035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Pandas</a:t>
            </a:r>
            <a:endParaRPr lang="en-IN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0745C-5904-D8D6-9724-E8F7DE1F5128}"/>
              </a:ext>
            </a:extLst>
          </p:cNvPr>
          <p:cNvSpPr txBox="1"/>
          <p:nvPr/>
        </p:nvSpPr>
        <p:spPr>
          <a:xfrm>
            <a:off x="2177143" y="3753384"/>
            <a:ext cx="2035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NumPy</a:t>
            </a:r>
            <a:endParaRPr lang="en-IN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2C569D-85BB-ADBB-A20F-8760802D8F1F}"/>
              </a:ext>
            </a:extLst>
          </p:cNvPr>
          <p:cNvSpPr txBox="1"/>
          <p:nvPr/>
        </p:nvSpPr>
        <p:spPr>
          <a:xfrm>
            <a:off x="2177143" y="4402169"/>
            <a:ext cx="2035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Matplotlib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04D83-7748-425B-AA3C-3749271C4001}"/>
              </a:ext>
            </a:extLst>
          </p:cNvPr>
          <p:cNvSpPr txBox="1"/>
          <p:nvPr/>
        </p:nvSpPr>
        <p:spPr>
          <a:xfrm>
            <a:off x="2177143" y="5050954"/>
            <a:ext cx="2035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Seaborn</a:t>
            </a:r>
            <a:endParaRPr lang="en-IN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98C2F8-FAED-76FE-6694-5641EB13A3C6}"/>
              </a:ext>
            </a:extLst>
          </p:cNvPr>
          <p:cNvSpPr txBox="1"/>
          <p:nvPr/>
        </p:nvSpPr>
        <p:spPr>
          <a:xfrm>
            <a:off x="5747659" y="2455814"/>
            <a:ext cx="3145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Core Programming</a:t>
            </a:r>
            <a:endParaRPr lang="en-IN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CA5547-79CA-D31E-9B16-3798EBF3ECFD}"/>
              </a:ext>
            </a:extLst>
          </p:cNvPr>
          <p:cNvSpPr txBox="1"/>
          <p:nvPr/>
        </p:nvSpPr>
        <p:spPr>
          <a:xfrm>
            <a:off x="5747658" y="3111234"/>
            <a:ext cx="2786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 Processing</a:t>
            </a:r>
            <a:endParaRPr lang="en-IN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8D590A-B32E-C46C-910B-761057D20C8F}"/>
              </a:ext>
            </a:extLst>
          </p:cNvPr>
          <p:cNvSpPr txBox="1"/>
          <p:nvPr/>
        </p:nvSpPr>
        <p:spPr>
          <a:xfrm>
            <a:off x="5747659" y="3766654"/>
            <a:ext cx="2960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Statistical Analysis</a:t>
            </a:r>
            <a:endParaRPr lang="en-IN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BE45E-7F32-9CC8-298A-F895B4F66F33}"/>
              </a:ext>
            </a:extLst>
          </p:cNvPr>
          <p:cNvSpPr txBox="1"/>
          <p:nvPr/>
        </p:nvSpPr>
        <p:spPr>
          <a:xfrm>
            <a:off x="5747659" y="4425227"/>
            <a:ext cx="2133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Visualization</a:t>
            </a:r>
            <a:endParaRPr lang="en-IN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EDBA15-43F5-1E15-16D8-7B3D15BA04E0}"/>
              </a:ext>
            </a:extLst>
          </p:cNvPr>
          <p:cNvSpPr txBox="1"/>
          <p:nvPr/>
        </p:nvSpPr>
        <p:spPr>
          <a:xfrm>
            <a:off x="5747659" y="5050954"/>
            <a:ext cx="278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Charts</a:t>
            </a:r>
            <a:endParaRPr lang="en-IN" sz="280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B6F29E2-68E4-A7D8-6A79-2C7FBF174D32}"/>
              </a:ext>
            </a:extLst>
          </p:cNvPr>
          <p:cNvSpPr/>
          <p:nvPr/>
        </p:nvSpPr>
        <p:spPr>
          <a:xfrm>
            <a:off x="4550229" y="2024743"/>
            <a:ext cx="849085" cy="206828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A784573-9D88-4C0A-0F4D-709FC5880AD4}"/>
              </a:ext>
            </a:extLst>
          </p:cNvPr>
          <p:cNvSpPr/>
          <p:nvPr/>
        </p:nvSpPr>
        <p:spPr>
          <a:xfrm>
            <a:off x="4550224" y="2634785"/>
            <a:ext cx="849085" cy="206828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509A8C6-D8EC-9679-6DFB-9F536FA0E472}"/>
              </a:ext>
            </a:extLst>
          </p:cNvPr>
          <p:cNvSpPr/>
          <p:nvPr/>
        </p:nvSpPr>
        <p:spPr>
          <a:xfrm>
            <a:off x="4550225" y="3282211"/>
            <a:ext cx="849085" cy="206828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4E9E067-85FE-3E9A-749F-03E11C129962}"/>
              </a:ext>
            </a:extLst>
          </p:cNvPr>
          <p:cNvSpPr/>
          <p:nvPr/>
        </p:nvSpPr>
        <p:spPr>
          <a:xfrm>
            <a:off x="4550226" y="3945162"/>
            <a:ext cx="849085" cy="206828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6F1CC22-2ECE-5175-211B-2BB03AA4B691}"/>
              </a:ext>
            </a:extLst>
          </p:cNvPr>
          <p:cNvSpPr/>
          <p:nvPr/>
        </p:nvSpPr>
        <p:spPr>
          <a:xfrm>
            <a:off x="4550227" y="4560365"/>
            <a:ext cx="849085" cy="206828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B0F0A92-F0FE-0DF1-E407-AAC251FF23A6}"/>
              </a:ext>
            </a:extLst>
          </p:cNvPr>
          <p:cNvSpPr/>
          <p:nvPr/>
        </p:nvSpPr>
        <p:spPr>
          <a:xfrm>
            <a:off x="4550228" y="5105736"/>
            <a:ext cx="849085" cy="206828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350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FE9A-BA09-1F3D-18AE-62B24828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96004"/>
            <a:ext cx="9905998" cy="1478570"/>
          </a:xfrm>
        </p:spPr>
        <p:txBody>
          <a:bodyPr/>
          <a:lstStyle/>
          <a:p>
            <a:r>
              <a:rPr lang="en-US" dirty="0"/>
              <a:t>Project Methodology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CC5F3A-8577-AB1F-4B20-5586B694EEED}"/>
              </a:ext>
            </a:extLst>
          </p:cNvPr>
          <p:cNvCxnSpPr/>
          <p:nvPr/>
        </p:nvCxnSpPr>
        <p:spPr>
          <a:xfrm>
            <a:off x="1141412" y="1195311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7FB5131-C647-0585-82B0-51CEDBDC1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22571"/>
              </p:ext>
            </p:extLst>
          </p:nvPr>
        </p:nvGraphicFramePr>
        <p:xfrm>
          <a:off x="412069" y="1422174"/>
          <a:ext cx="9906000" cy="4902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E56F71-F249-ADDB-2A2E-751FB2A6E436}"/>
              </a:ext>
            </a:extLst>
          </p:cNvPr>
          <p:cNvSpPr txBox="1"/>
          <p:nvPr/>
        </p:nvSpPr>
        <p:spPr>
          <a:xfrm>
            <a:off x="3701143" y="1643554"/>
            <a:ext cx="5889171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CSV dataset containing job-related information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A64D4-5C06-AC09-F243-898DFFBDA7E9}"/>
              </a:ext>
            </a:extLst>
          </p:cNvPr>
          <p:cNvSpPr txBox="1"/>
          <p:nvPr/>
        </p:nvSpPr>
        <p:spPr>
          <a:xfrm>
            <a:off x="4428898" y="2452762"/>
            <a:ext cx="5889171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Handling missing values and formatting data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D0262-FD80-8588-D308-D8F77176C52C}"/>
              </a:ext>
            </a:extLst>
          </p:cNvPr>
          <p:cNvSpPr txBox="1"/>
          <p:nvPr/>
        </p:nvSpPr>
        <p:spPr>
          <a:xfrm>
            <a:off x="5497286" y="3243943"/>
            <a:ext cx="5889171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CSV dataset ready for analysis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E0F8BD-E452-FEB2-C4D2-66AA9FA1E864}"/>
              </a:ext>
            </a:extLst>
          </p:cNvPr>
          <p:cNvSpPr txBox="1"/>
          <p:nvPr/>
        </p:nvSpPr>
        <p:spPr>
          <a:xfrm>
            <a:off x="6988630" y="4122913"/>
            <a:ext cx="415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Salary statistics and category analysis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726EA-A31D-B0CE-531F-5FCB4FCF1222}"/>
              </a:ext>
            </a:extLst>
          </p:cNvPr>
          <p:cNvSpPr txBox="1"/>
          <p:nvPr/>
        </p:nvSpPr>
        <p:spPr>
          <a:xfrm>
            <a:off x="7511143" y="4719107"/>
            <a:ext cx="4158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Charts generated using Matplotlib and Seaborn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1795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1517-A35C-863D-60B5-71D91D53B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4"/>
            <a:ext cx="9905998" cy="1478570"/>
          </a:xfrm>
        </p:spPr>
        <p:txBody>
          <a:bodyPr/>
          <a:lstStyle/>
          <a:p>
            <a:r>
              <a:rPr lang="en-US" dirty="0"/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F5DAE-DDFA-FFD7-FD97-C0FE1FA8C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927" y="1914941"/>
            <a:ext cx="9905999" cy="3985117"/>
          </a:xfrm>
        </p:spPr>
        <p:txBody>
          <a:bodyPr>
            <a:normAutofit/>
          </a:bodyPr>
          <a:lstStyle/>
          <a:p>
            <a:r>
              <a:rPr lang="en-US" sz="2800" dirty="0"/>
              <a:t>Salary Distribution Analysis</a:t>
            </a:r>
          </a:p>
          <a:p>
            <a:r>
              <a:rPr lang="en-US" sz="2800" dirty="0"/>
              <a:t>Jobs per Category</a:t>
            </a:r>
          </a:p>
          <a:p>
            <a:r>
              <a:rPr lang="en-US" sz="2800" dirty="0"/>
              <a:t>Jobs per Location</a:t>
            </a:r>
          </a:p>
          <a:p>
            <a:r>
              <a:rPr lang="en-US" sz="2800" dirty="0"/>
              <a:t>Experience vs Salary</a:t>
            </a:r>
          </a:p>
          <a:p>
            <a:r>
              <a:rPr lang="en-US" sz="2800" dirty="0"/>
              <a:t>Monthly Hiring Trends</a:t>
            </a:r>
          </a:p>
          <a:p>
            <a:r>
              <a:rPr lang="en-US" sz="2800" dirty="0"/>
              <a:t>CLI Menu-based Interface</a:t>
            </a:r>
            <a:endParaRPr lang="en-IN" sz="2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CEEAC6-C21F-20FD-AD74-E21C8452C291}"/>
              </a:ext>
            </a:extLst>
          </p:cNvPr>
          <p:cNvCxnSpPr/>
          <p:nvPr/>
        </p:nvCxnSpPr>
        <p:spPr>
          <a:xfrm>
            <a:off x="1141412" y="1478339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051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8D60-B206-9FFA-7A88-393A62BB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6681"/>
            <a:ext cx="9905998" cy="912282"/>
          </a:xfrm>
        </p:spPr>
        <p:txBody>
          <a:bodyPr/>
          <a:lstStyle/>
          <a:p>
            <a:r>
              <a:rPr lang="en-US" dirty="0"/>
              <a:t>Charts and graphs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E0DC89-459C-3444-CCF7-F998FD927E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16" y="2049533"/>
            <a:ext cx="4878387" cy="3048991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ABAD9B4-F912-55A4-FB94-332BD11D0D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598" y="2049533"/>
            <a:ext cx="4875213" cy="30489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C292FC-CA79-CF5B-CEB7-79BA42CA81D5}"/>
              </a:ext>
            </a:extLst>
          </p:cNvPr>
          <p:cNvCxnSpPr/>
          <p:nvPr/>
        </p:nvCxnSpPr>
        <p:spPr>
          <a:xfrm>
            <a:off x="1141413" y="1062564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A1449F-F004-B9C2-8ED9-3BB0605702C2}"/>
              </a:ext>
            </a:extLst>
          </p:cNvPr>
          <p:cNvSpPr txBox="1"/>
          <p:nvPr/>
        </p:nvSpPr>
        <p:spPr>
          <a:xfrm>
            <a:off x="989016" y="1441332"/>
            <a:ext cx="3898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Salary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73564-BD87-0E71-CBC0-5D3CEB9D813B}"/>
              </a:ext>
            </a:extLst>
          </p:cNvPr>
          <p:cNvSpPr txBox="1"/>
          <p:nvPr/>
        </p:nvSpPr>
        <p:spPr>
          <a:xfrm>
            <a:off x="6324598" y="1485789"/>
            <a:ext cx="3898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Experience vs Salary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1D660-F1AF-631E-F91D-CB052FE6D635}"/>
              </a:ext>
            </a:extLst>
          </p:cNvPr>
          <p:cNvSpPr txBox="1"/>
          <p:nvPr/>
        </p:nvSpPr>
        <p:spPr>
          <a:xfrm>
            <a:off x="1337360" y="5216613"/>
            <a:ext cx="4181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Shows salary spread and density trend</a:t>
            </a:r>
            <a:endParaRPr lang="en-IN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F3A14D-EFAA-E683-08D4-F833689E04F3}"/>
              </a:ext>
            </a:extLst>
          </p:cNvPr>
          <p:cNvSpPr txBox="1"/>
          <p:nvPr/>
        </p:nvSpPr>
        <p:spPr>
          <a:xfrm>
            <a:off x="6553198" y="5216613"/>
            <a:ext cx="4181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Shows positive relationship between experience and salary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59904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F7B8-6F25-B7BF-7470-C318A3DB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E609-EC4B-4393-A93A-774DCFF52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267440"/>
            <a:ext cx="9905998" cy="912282"/>
          </a:xfrm>
        </p:spPr>
        <p:txBody>
          <a:bodyPr/>
          <a:lstStyle/>
          <a:p>
            <a:r>
              <a:rPr lang="en-US" dirty="0"/>
              <a:t>Charts and graphs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57B0E1-27CF-E370-40E8-6CB41F2CB2E1}"/>
              </a:ext>
            </a:extLst>
          </p:cNvPr>
          <p:cNvCxnSpPr/>
          <p:nvPr/>
        </p:nvCxnSpPr>
        <p:spPr>
          <a:xfrm>
            <a:off x="1132114" y="1053796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B4BAB9-D598-D17F-E4CF-949C377BA606}"/>
              </a:ext>
            </a:extLst>
          </p:cNvPr>
          <p:cNvSpPr txBox="1"/>
          <p:nvPr/>
        </p:nvSpPr>
        <p:spPr>
          <a:xfrm>
            <a:off x="989016" y="1441332"/>
            <a:ext cx="3898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3. Jobs per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3088B-B878-513D-1D00-5EB3058F13C2}"/>
              </a:ext>
            </a:extLst>
          </p:cNvPr>
          <p:cNvSpPr txBox="1"/>
          <p:nvPr/>
        </p:nvSpPr>
        <p:spPr>
          <a:xfrm>
            <a:off x="6455229" y="1485789"/>
            <a:ext cx="3898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4. Jobs per Location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0EA217-B1D6-44B8-10BD-A9C2E23E943B}"/>
              </a:ext>
            </a:extLst>
          </p:cNvPr>
          <p:cNvSpPr txBox="1"/>
          <p:nvPr/>
        </p:nvSpPr>
        <p:spPr>
          <a:xfrm>
            <a:off x="1337360" y="5216613"/>
            <a:ext cx="4181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Identifies most demanding job domains</a:t>
            </a:r>
            <a:endParaRPr lang="en-IN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51A4B2-55D4-9F75-186F-E9C27DB3FE6E}"/>
              </a:ext>
            </a:extLst>
          </p:cNvPr>
          <p:cNvSpPr txBox="1"/>
          <p:nvPr/>
        </p:nvSpPr>
        <p:spPr>
          <a:xfrm>
            <a:off x="6574970" y="5216307"/>
            <a:ext cx="4181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Shows geographical hiring trends</a:t>
            </a:r>
            <a:endParaRPr lang="en-IN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B8EE35-ED23-38B9-31D5-FD2CD39319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049534"/>
            <a:ext cx="4878387" cy="3090880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7E8CF09-AAB3-A507-3F5D-3983DBC9EC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229" y="2009009"/>
            <a:ext cx="4875213" cy="30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68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CC4E-7FE6-8B21-E637-856DC795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D12E-ECD0-DFC4-6C6C-DF1DEAE0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8685"/>
            <a:ext cx="9905998" cy="912282"/>
          </a:xfrm>
        </p:spPr>
        <p:txBody>
          <a:bodyPr/>
          <a:lstStyle/>
          <a:p>
            <a:r>
              <a:rPr lang="en-US" dirty="0"/>
              <a:t>Charts and graphs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634C87-2528-536F-F182-0B24E0CEDF45}"/>
              </a:ext>
            </a:extLst>
          </p:cNvPr>
          <p:cNvCxnSpPr/>
          <p:nvPr/>
        </p:nvCxnSpPr>
        <p:spPr>
          <a:xfrm>
            <a:off x="1141413" y="1064682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5965AA-C191-C8B6-19C4-4BD76B07E192}"/>
              </a:ext>
            </a:extLst>
          </p:cNvPr>
          <p:cNvSpPr txBox="1"/>
          <p:nvPr/>
        </p:nvSpPr>
        <p:spPr>
          <a:xfrm>
            <a:off x="989015" y="1441332"/>
            <a:ext cx="4366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5. Job Category Distribution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4F8EF6-E96D-D5C5-5B40-3B6EBD8625A9}"/>
              </a:ext>
            </a:extLst>
          </p:cNvPr>
          <p:cNvSpPr txBox="1"/>
          <p:nvPr/>
        </p:nvSpPr>
        <p:spPr>
          <a:xfrm>
            <a:off x="6324598" y="1485789"/>
            <a:ext cx="3898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6. Jobs Posted per Month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F967C-925C-ABA7-FE77-AA8897DDD887}"/>
              </a:ext>
            </a:extLst>
          </p:cNvPr>
          <p:cNvSpPr txBox="1"/>
          <p:nvPr/>
        </p:nvSpPr>
        <p:spPr>
          <a:xfrm>
            <a:off x="1337360" y="5216613"/>
            <a:ext cx="4181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Shows percentage wise distribution of job categories</a:t>
            </a:r>
            <a:endParaRPr lang="en-IN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6A8F07-D361-FE8A-14C4-216A137D2022}"/>
              </a:ext>
            </a:extLst>
          </p:cNvPr>
          <p:cNvSpPr txBox="1"/>
          <p:nvPr/>
        </p:nvSpPr>
        <p:spPr>
          <a:xfrm>
            <a:off x="6553198" y="5216613"/>
            <a:ext cx="4181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Displaying hiring activity over time</a:t>
            </a:r>
            <a:endParaRPr lang="en-IN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B3E4DD-C053-39B9-899A-3829D8141D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066087"/>
            <a:ext cx="4463143" cy="3048990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39F11DB-3809-8F35-B25C-0E5109E628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66087"/>
            <a:ext cx="4875213" cy="304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41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660D-1888-81A9-46A9-D199A9C2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099" y="0"/>
            <a:ext cx="9905998" cy="938138"/>
          </a:xfrm>
        </p:spPr>
        <p:txBody>
          <a:bodyPr/>
          <a:lstStyle/>
          <a:p>
            <a:r>
              <a:rPr lang="en-US" dirty="0"/>
              <a:t>Project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A18D4-5DB7-8A95-C5DB-23293CF09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898" y="838352"/>
            <a:ext cx="9905999" cy="2362198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Successfully analyzed job dataset</a:t>
            </a:r>
          </a:p>
          <a:p>
            <a:r>
              <a:rPr lang="en-US" sz="2800" dirty="0"/>
              <a:t>Generated meaningful insights</a:t>
            </a:r>
          </a:p>
          <a:p>
            <a:r>
              <a:rPr lang="en-US" sz="2800" dirty="0"/>
              <a:t>Visualized salary and hiring trends</a:t>
            </a:r>
          </a:p>
          <a:p>
            <a:r>
              <a:rPr lang="en-US" sz="2800" dirty="0"/>
              <a:t>Built modular Python application</a:t>
            </a:r>
          </a:p>
          <a:p>
            <a:r>
              <a:rPr lang="en-US" sz="2800" dirty="0"/>
              <a:t>Improved understanding of data analytics workflow</a:t>
            </a:r>
            <a:endParaRPr lang="en-IN" sz="2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7037AF-9901-C7CA-1755-22B9CD616A9A}"/>
              </a:ext>
            </a:extLst>
          </p:cNvPr>
          <p:cNvCxnSpPr/>
          <p:nvPr/>
        </p:nvCxnSpPr>
        <p:spPr>
          <a:xfrm>
            <a:off x="1076099" y="759882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BE57483-2787-DF86-8222-EF3400B1758D}"/>
              </a:ext>
            </a:extLst>
          </p:cNvPr>
          <p:cNvSpPr txBox="1">
            <a:spLocks/>
          </p:cNvSpPr>
          <p:nvPr/>
        </p:nvSpPr>
        <p:spPr>
          <a:xfrm>
            <a:off x="945473" y="3173112"/>
            <a:ext cx="9905998" cy="968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LeARNING outcomes</a:t>
            </a: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DA5A2F-17A1-5BCA-1091-6DEDEBD2F101}"/>
              </a:ext>
            </a:extLst>
          </p:cNvPr>
          <p:cNvCxnSpPr/>
          <p:nvPr/>
        </p:nvCxnSpPr>
        <p:spPr>
          <a:xfrm>
            <a:off x="1010786" y="3982054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CF3E48-77A1-0511-2B76-8785B0D24441}"/>
              </a:ext>
            </a:extLst>
          </p:cNvPr>
          <p:cNvSpPr txBox="1">
            <a:spLocks/>
          </p:cNvSpPr>
          <p:nvPr/>
        </p:nvSpPr>
        <p:spPr>
          <a:xfrm>
            <a:off x="1380898" y="4141790"/>
            <a:ext cx="9905999" cy="236219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Data preprocessing using Pandas</a:t>
            </a:r>
          </a:p>
          <a:p>
            <a:r>
              <a:rPr lang="en-US" sz="2800" dirty="0"/>
              <a:t>Statistical analysis using NumPy</a:t>
            </a:r>
          </a:p>
          <a:p>
            <a:r>
              <a:rPr lang="en-US" sz="2800" dirty="0"/>
              <a:t>Visualization using Seaborn &amp; Matplotlib</a:t>
            </a:r>
          </a:p>
          <a:p>
            <a:r>
              <a:rPr lang="en-US" sz="2800" dirty="0"/>
              <a:t>Debugging and problem solving</a:t>
            </a:r>
          </a:p>
          <a:p>
            <a:r>
              <a:rPr lang="en-IN" sz="2800" dirty="0"/>
              <a:t>Building modular Python projects</a:t>
            </a:r>
          </a:p>
        </p:txBody>
      </p:sp>
    </p:spTree>
    <p:extLst>
      <p:ext uri="{BB962C8B-B14F-4D97-AF65-F5344CB8AC3E}">
        <p14:creationId xmlns:p14="http://schemas.microsoft.com/office/powerpoint/2010/main" val="511218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96AE-F48B-322D-B542-F6B8E032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7143"/>
            <a:ext cx="9905998" cy="147857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03EF-9A76-491D-B4AF-249EED1C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543" y="1748745"/>
            <a:ext cx="8175171" cy="3541714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dirty="0"/>
              <a:t>The project successfully demonstrated how Python can be used for data cleaning, analysis, and visualization. It Improved practical understanding of data analytics workflows and enhanced problem-solving skills.</a:t>
            </a:r>
            <a:endParaRPr lang="en-IN" sz="2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793E3B-C081-E06F-003C-8DED56A8A31D}"/>
              </a:ext>
            </a:extLst>
          </p:cNvPr>
          <p:cNvCxnSpPr/>
          <p:nvPr/>
        </p:nvCxnSpPr>
        <p:spPr>
          <a:xfrm>
            <a:off x="1141412" y="1206196"/>
            <a:ext cx="9775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782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push dir="u"/>
      </p:transition>
    </mc:Choice>
    <mc:Fallback>
      <p:transition spd="slow" advClick="0" advTm="5000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B4CE94-0C08-9EE3-CC61-7E06EF97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310" y="674914"/>
            <a:ext cx="9905955" cy="1872343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Thank you</a:t>
            </a:r>
            <a:endParaRPr lang="en-IN" sz="8800" dirty="0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04852431-1EF7-8A67-674D-C42A618625EE}"/>
              </a:ext>
            </a:extLst>
          </p:cNvPr>
          <p:cNvSpPr/>
          <p:nvPr/>
        </p:nvSpPr>
        <p:spPr>
          <a:xfrm>
            <a:off x="4974771" y="2797629"/>
            <a:ext cx="2296886" cy="2394857"/>
          </a:xfrm>
          <a:prstGeom prst="smileyFace">
            <a:avLst/>
          </a:prstGeom>
          <a:ln w="28575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7EC75F-842F-A569-B197-7BD51C442599}"/>
              </a:ext>
            </a:extLst>
          </p:cNvPr>
          <p:cNvSpPr/>
          <p:nvPr/>
        </p:nvSpPr>
        <p:spPr>
          <a:xfrm>
            <a:off x="5551714" y="3418115"/>
            <a:ext cx="381000" cy="424543"/>
          </a:xfrm>
          <a:prstGeom prst="ellips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0D1DB5-60E9-7D81-B28A-1B5C051E40A5}"/>
              </a:ext>
            </a:extLst>
          </p:cNvPr>
          <p:cNvSpPr/>
          <p:nvPr/>
        </p:nvSpPr>
        <p:spPr>
          <a:xfrm>
            <a:off x="6259288" y="3439887"/>
            <a:ext cx="381000" cy="424543"/>
          </a:xfrm>
          <a:prstGeom prst="ellips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2AB124-5A9C-3355-D7E3-CF8A30644066}"/>
              </a:ext>
            </a:extLst>
          </p:cNvPr>
          <p:cNvSpPr/>
          <p:nvPr/>
        </p:nvSpPr>
        <p:spPr>
          <a:xfrm>
            <a:off x="5622471" y="3505201"/>
            <a:ext cx="239485" cy="29391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513220-40E1-9F5F-5128-56A91583B6ED}"/>
              </a:ext>
            </a:extLst>
          </p:cNvPr>
          <p:cNvSpPr/>
          <p:nvPr/>
        </p:nvSpPr>
        <p:spPr>
          <a:xfrm>
            <a:off x="6330045" y="3537860"/>
            <a:ext cx="239485" cy="29391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0EE994-1703-15AA-D96D-94E8C2E7B9A7}"/>
              </a:ext>
            </a:extLst>
          </p:cNvPr>
          <p:cNvSpPr/>
          <p:nvPr/>
        </p:nvSpPr>
        <p:spPr>
          <a:xfrm>
            <a:off x="5712279" y="3532415"/>
            <a:ext cx="108857" cy="979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A7AE0C-91C9-422C-23C7-5F08746CEB05}"/>
              </a:ext>
            </a:extLst>
          </p:cNvPr>
          <p:cNvSpPr/>
          <p:nvPr/>
        </p:nvSpPr>
        <p:spPr>
          <a:xfrm>
            <a:off x="6428014" y="3554187"/>
            <a:ext cx="108857" cy="979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Moon 13">
            <a:extLst>
              <a:ext uri="{FF2B5EF4-FFF2-40B4-BE49-F238E27FC236}">
                <a16:creationId xmlns:a16="http://schemas.microsoft.com/office/drawing/2014/main" id="{B856AF62-B758-8CCF-19A6-81A87051560F}"/>
              </a:ext>
            </a:extLst>
          </p:cNvPr>
          <p:cNvSpPr/>
          <p:nvPr/>
        </p:nvSpPr>
        <p:spPr>
          <a:xfrm rot="16200000">
            <a:off x="5698671" y="3690257"/>
            <a:ext cx="849085" cy="1545775"/>
          </a:xfrm>
          <a:prstGeom prst="moon">
            <a:avLst/>
          </a:prstGeom>
          <a:solidFill>
            <a:schemeClr val="tx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B643D-5812-AB28-4BDC-DDDE6B1DDB2A}"/>
              </a:ext>
            </a:extLst>
          </p:cNvPr>
          <p:cNvCxnSpPr>
            <a:cxnSpLocks/>
          </p:cNvCxnSpPr>
          <p:nvPr/>
        </p:nvCxnSpPr>
        <p:spPr>
          <a:xfrm>
            <a:off x="5600700" y="4648199"/>
            <a:ext cx="103958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858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reveal/>
      </p:transition>
    </mc:Choice>
    <mc:Fallback>
      <p:transition spd="slow" advClick="0" advTm="5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105</TotalTime>
  <Words>332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Job Analytics Tool</vt:lpstr>
      <vt:lpstr>About the project</vt:lpstr>
      <vt:lpstr>Project objectives</vt:lpstr>
      <vt:lpstr>Technology stack</vt:lpstr>
      <vt:lpstr>Project Methodology</vt:lpstr>
      <vt:lpstr>Key features</vt:lpstr>
      <vt:lpstr>Charts and graphs</vt:lpstr>
      <vt:lpstr>Charts and graphs</vt:lpstr>
      <vt:lpstr>Charts and graphs</vt:lpstr>
      <vt:lpstr>Project outcomes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Dhananjay Bilade</dc:creator>
  <cp:lastModifiedBy>Dhananjay Bilade</cp:lastModifiedBy>
  <cp:revision>18</cp:revision>
  <dcterms:created xsi:type="dcterms:W3CDTF">2026-05-06T13:21:26Z</dcterms:created>
  <dcterms:modified xsi:type="dcterms:W3CDTF">2026-05-06T16:11:03Z</dcterms:modified>
</cp:coreProperties>
</file>